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CADCFC"/>
                </a:solidFill>
                <a:latin typeface="Calibri"/>
              </a:rPr>
              <a:t>QUALITY INSPECTION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468880"/>
            <a:ext cx="10698480" cy="2286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정제 (Pill) 검사 결과 보고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6984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CADCFC"/>
                </a:solidFill>
                <a:latin typeface="Calibri"/>
              </a:rPr>
              <a:t>정제 (Pill) — 인쇄 결함 (글자) 결함 검출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CADCFC"/>
                </a:solidFill>
                <a:latin typeface="Calibri"/>
              </a:rPr>
              <a:t>Inspection Date  2026.05.21   ·   AI Vision Inspection Agent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1E2761"/>
                </a:solidFill>
                <a:latin typeface="Calibri"/>
              </a:rPr>
              <a:t>01  ·  INSPECTION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Calibri"/>
              </a:rPr>
              <a:t>검사 요약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32004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666680"/>
                </a:solidFill>
                <a:latin typeface="Calibri"/>
              </a:rPr>
              <a:t>OVERALL SEVERITY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3200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400" b="1">
                <a:solidFill>
                  <a:srgbClr val="C1211B"/>
                </a:solidFill>
                <a:latin typeface="Calibri"/>
              </a:rPr>
              <a:t>HIGH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00400"/>
            <a:ext cx="32004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666680"/>
                </a:solidFill>
                <a:latin typeface="Calibri"/>
              </a:rPr>
              <a:t>DEFECTS DETECTED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20440"/>
            <a:ext cx="3200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400" b="1">
                <a:solidFill>
                  <a:srgbClr val="1E2761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617720"/>
            <a:ext cx="32004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666680"/>
                </a:solidFill>
                <a:latin typeface="Calibri"/>
              </a:rPr>
              <a:t>CONFIDENCE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37760"/>
            <a:ext cx="3200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400" b="1">
                <a:solidFill>
                  <a:srgbClr val="1E2761"/>
                </a:solidFill>
                <a:latin typeface="Calibri"/>
              </a:rPr>
              <a:t>82%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828800"/>
            <a:ext cx="7132320" cy="4572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0" y="6446520"/>
            <a:ext cx="71323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666680"/>
                </a:solidFill>
                <a:latin typeface="Calibri"/>
              </a:rPr>
              <a:t>▲ AI 검출 결함 영역 표시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1E2761"/>
                </a:solidFill>
                <a:latin typeface="Calibri"/>
              </a:rPr>
              <a:t>02  ·  DEFECT 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Calibri"/>
              </a:rPr>
              <a:t>결함 상세 분석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91440" cy="2103120"/>
          </a:xfrm>
          <a:prstGeom prst="rect">
            <a:avLst/>
          </a:prstGeom>
          <a:solidFill>
            <a:srgbClr val="C12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9377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1A1A2E"/>
                </a:solidFill>
                <a:latin typeface="Calibri"/>
              </a:rPr>
              <a:t>#1  인쇄 결함 (글자)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22860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C1211B"/>
                </a:solidFill>
                <a:latin typeface="Calibri"/>
              </a:rPr>
              <a:t>SEVERITY  HIGH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60320"/>
            <a:ext cx="49377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위치: 중앙 텍스트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34640"/>
            <a:ext cx="49377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크기: 중간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54680"/>
            <a:ext cx="493776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중앙 텍스트에 인쇄 결함 (글자) 결함 관찰. FF가 FT로 인쇄됨 — 식별 코드 불일치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1E2761"/>
                </a:solidFill>
                <a:latin typeface="Calibri"/>
              </a:rPr>
              <a:t>03  ·  ROOT CAUSE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Calibri"/>
              </a:rPr>
              <a:t>근본 원인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666680"/>
                </a:solidFill>
                <a:latin typeface="Calibri"/>
              </a:rPr>
              <a:t>웹 검색을 통해 자동 수집된 산업 표준 기반 분석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19456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176272"/>
            <a:ext cx="45720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공정 요인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651760"/>
            <a:ext cx="4572000" cy="1554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타정(tableting) 공정의 압력 변동, 코팅 분사 불균일로 인한 표면 얼룩·반점. 식별 인쇄(엠보싱·잉크) 정렬 오류로 인쇄 결함 발생.</a:t>
            </a:r>
          </a:p>
        </p:txBody>
      </p:sp>
      <p:sp>
        <p:nvSpPr>
          <p:cNvPr id="9" name="Oval 8"/>
          <p:cNvSpPr/>
          <p:nvPr/>
        </p:nvSpPr>
        <p:spPr>
          <a:xfrm>
            <a:off x="6217920" y="219456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176272"/>
            <a:ext cx="45720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설비 요인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2651760"/>
            <a:ext cx="4572000" cy="1554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타정기 펀치·다이 마모로 가장자리 결손(chip). 코팅 팬 회전속도·온도 산포. 인쇄 롤러 잉크 부족 또는 노즐 막힘.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4297679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4279391"/>
            <a:ext cx="45720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재료 요인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4754879"/>
            <a:ext cx="4572000" cy="1554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원료 분말 입도 분포 산포로 압축 강도 변동. 색소 분산 불균일로 표면 변색·반점. 코팅액 점도 변화.</a:t>
            </a:r>
          </a:p>
        </p:txBody>
      </p:sp>
      <p:sp>
        <p:nvSpPr>
          <p:cNvPr id="15" name="Oval 14"/>
          <p:cNvSpPr/>
          <p:nvPr/>
        </p:nvSpPr>
        <p:spPr>
          <a:xfrm>
            <a:off x="6217920" y="4297679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4279391"/>
            <a:ext cx="45720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환경 요인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4754879"/>
            <a:ext cx="4572000" cy="1554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제조실 습도 관리 실패 시 흡습으로 인한 변형·변색. 저장 중 빛 노출로 활성 성분 분해 가능.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1E2761"/>
                </a:solidFill>
                <a:latin typeface="Calibri"/>
              </a:rPr>
              <a:t>04  · 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Calibri"/>
              </a:rPr>
              <a:t>권고 조치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82296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CADCFC"/>
                </a:solidFill>
                <a:latin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874520"/>
            <a:ext cx="10058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인쇄 결함 (글자) 검출 표본 즉시 격리 + 재검사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51760"/>
            <a:ext cx="82296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CADCFC"/>
                </a:solidFill>
                <a:latin typeface="Calibri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788920"/>
            <a:ext cx="10058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동일 로트 100개 샘플 확대 검사로 결함률 산출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66160"/>
            <a:ext cx="82296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CADCFC"/>
                </a:solidFill>
                <a:latin typeface="Calibri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3703320"/>
            <a:ext cx="10058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공정 파라미터 점검 (research 권고 항목 참조)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480560"/>
            <a:ext cx="82296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CADCFC"/>
                </a:solidFill>
                <a:latin typeface="Calibri"/>
              </a:rP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4617720"/>
            <a:ext cx="10058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AOI 라인에 딥러닝 결함 분류 모델 도입 (cGMP 검증 완료 모델 사용)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394960"/>
            <a:ext cx="82296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CADCFC"/>
                </a:solidFill>
                <a:latin typeface="Calibri"/>
              </a:rP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5532120"/>
            <a:ext cx="10058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타정기 펀치 마모도 자동 측정 (교체 주기 데이터화)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CADCFC"/>
                </a:solidFill>
                <a:latin typeface="Calibri"/>
              </a:rPr>
              <a:t>05  · 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참고 자료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CADCFC"/>
                </a:solidFill>
                <a:latin typeface="Calibri"/>
              </a:rPr>
              <a:t>산업 표준 · 본 검사 보고서의 근거 자료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53035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CADCFC"/>
                </a:solidFill>
                <a:latin typeface="Calibri"/>
              </a:rPr>
              <a:t>INDUSTRY STANDARDS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5303520" cy="3200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CADCFC"/>
                </a:solidFill>
                <a:latin typeface="Calibri"/>
              </a:rPr>
              <a:t>·  USP &lt;1216&gt; Tablet Friability — 마모 시험</a:t>
            </a:r>
          </a:p>
          <a:p>
            <a:pPr algn="l"/>
            <a:r>
              <a:rPr sz="1000" b="0">
                <a:solidFill>
                  <a:srgbClr val="CADCFC"/>
                </a:solidFill>
                <a:latin typeface="Calibri"/>
              </a:rPr>
              <a:t>·  USP &lt;701&gt; Disintegration — 붕해 시험</a:t>
            </a:r>
          </a:p>
          <a:p>
            <a:pPr algn="l"/>
            <a:r>
              <a:rPr sz="1000" b="0">
                <a:solidFill>
                  <a:srgbClr val="CADCFC"/>
                </a:solidFill>
                <a:latin typeface="Calibri"/>
              </a:rPr>
              <a:t>·  FDA 21 CFR Part 211 — Current Good Manufacturing Practice (cGMP)</a:t>
            </a:r>
          </a:p>
          <a:p>
            <a:pPr algn="l"/>
            <a:r>
              <a:rPr sz="1000" b="0">
                <a:solidFill>
                  <a:srgbClr val="CADCFC"/>
                </a:solidFill>
                <a:latin typeface="Calibri"/>
              </a:rPr>
              <a:t>·  ICH Q7 / Q9 / Q10 — 의약품 품질 가이드라인</a:t>
            </a:r>
          </a:p>
          <a:p>
            <a:pPr algn="l"/>
            <a:r>
              <a:rPr sz="1000" b="0">
                <a:solidFill>
                  <a:srgbClr val="CADCFC"/>
                </a:solidFill>
                <a:latin typeface="Calibri"/>
              </a:rPr>
              <a:t>·  FDA Draft Guidance on AI for Drug Manufacturing (2025-01)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2377440"/>
            <a:ext cx="53035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CADCFC"/>
                </a:solidFill>
                <a:latin typeface="Calibri"/>
              </a:rPr>
              <a:t>WEB 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743200"/>
            <a:ext cx="5303520" cy="3200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>
                <a:solidFill>
                  <a:srgbClr val="CADCFC"/>
                </a:solidFill>
                <a:latin typeface="Calibri"/>
              </a:rPr>
              <a:t>[01]  https://www.cognex.com/en/applications/automated-defect-detection/p...</a:t>
            </a:r>
          </a:p>
          <a:p>
            <a:pPr algn="l"/>
            <a:r>
              <a:rPr sz="900" b="0">
                <a:solidFill>
                  <a:srgbClr val="CADCFC"/>
                </a:solidFill>
                <a:latin typeface="Calibri"/>
              </a:rPr>
              <a:t>[02]  https://intuitionlabs.ai/articles/computer-vision-in-pharmaceutical...</a:t>
            </a:r>
          </a:p>
          <a:p>
            <a:pPr algn="l"/>
            <a:r>
              <a:rPr sz="900" b="0">
                <a:solidFill>
                  <a:srgbClr val="CADCFC"/>
                </a:solidFill>
                <a:latin typeface="Calibri"/>
              </a:rPr>
              <a:t>[03]  https://www.overview.ai/blog/tablet-defects-manufacturing/</a:t>
            </a:r>
          </a:p>
          <a:p>
            <a:pPr algn="l"/>
            <a:r>
              <a:rPr sz="900" b="0">
                <a:solidFill>
                  <a:srgbClr val="CADCFC"/>
                </a:solidFill>
                <a:latin typeface="Calibri"/>
              </a:rPr>
              <a:t>[04]  https://www.pharmtech.com/view/black-specks-tablet-stability-samples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