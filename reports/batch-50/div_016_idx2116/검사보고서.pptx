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QUALITY INSPECTION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69848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헤이즐넛 (가공식품) 검사 결과 보고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libri"/>
              </a:rPr>
              <a:t>헤이즐넛 (가공식품) — 외피 chip / 박리 결함 검출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Inspection Date  2026.05.21   ·   AI Vision Inspection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01  ·  INSPECTION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검사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OVERALL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E69F00"/>
                </a:solidFill>
                <a:latin typeface="Calibri"/>
              </a:rPr>
              <a:t>MEDIUM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DEFECTS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666680"/>
                </a:solidFill>
                <a:latin typeface="Calibri"/>
              </a:rPr>
              <a:t>CONFIDENCE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3200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1E2761"/>
                </a:solidFill>
                <a:latin typeface="Calibri"/>
              </a:rPr>
              <a:t>82%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7132320" cy="457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72000" y="6446520"/>
            <a:ext cx="713232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666680"/>
                </a:solidFill>
                <a:latin typeface="Calibri"/>
              </a:rPr>
              <a:t>▲ AI 검출 결함 영역 표시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02  ·  DEFECT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결함 상세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91440" cy="2103120"/>
          </a:xfrm>
          <a:prstGeom prst="rect">
            <a:avLst/>
          </a:prstGeom>
          <a:solidFill>
            <a:srgbClr val="E69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#1  외피 chip / 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2860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E69F00"/>
                </a:solidFill>
                <a:latin typeface="Calibri"/>
              </a:rPr>
              <a:t>SEVERITY 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위치: 좌상단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크기: 중간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49377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좌상단에 외피 chip / 박리 결함 관찰. 외피 일부 떨어짐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03  ·  ROOT CAUSE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근본 원인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666680"/>
                </a:solidFill>
                <a:latin typeface="Calibri"/>
              </a:rPr>
              <a:t>웹 검색을 통해 자동 수집된 산업 표준 기반 분석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공정 요인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탈각(cracking) 공정의 압력 과다로 알맹이 손상 또는 외피 chip. 건조(roasting) 온도·시간 산포로 변색·균열.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19456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76272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설비 요인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탈각기 롤러 간격 불균일로 크기별 손상률 차이. 선별 컨베이어의 마찰로 외피 손상 누적.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재료 요인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수확 시 곰팡이 감염(Aspergillus flavus 등)으로 내부 변색·아플라톡신 위험. 미성숙 수확 또는 과숙으로 외피 결함.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297679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279391"/>
            <a:ext cx="4572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환경 요인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754879"/>
            <a:ext cx="457200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A1A2E"/>
                </a:solidFill>
                <a:latin typeface="Calibri"/>
              </a:rPr>
              <a:t>저장 습도 부적절 시 곰팡이 번식 → 외피 검은 반점·내부 부패. 해충(insect) 침입으로 구멍·내부 손상.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1E2761"/>
                </a:solidFill>
                <a:latin typeface="Calibri"/>
              </a:rPr>
              <a:t>04  · 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  <a:latin typeface="Calibri"/>
              </a:rPr>
              <a:t>권고 조치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745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외피 chip / 박리 검출 표본 즉시 격리 + 재검사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889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동일 로트 100개 샘플 확대 검사로 결함률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033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공정 파라미터 점검 (research 권고 항목 참조)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805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6177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비전 선별기에 딥러닝 기반 곰팡이 검출 모델 도입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82296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CADCFC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532120"/>
            <a:ext cx="10058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수확 후 즉시 건조 처리 SOP 강화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Calibri"/>
              </a:rPr>
              <a:t>05  ·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Calibri"/>
              </a:rPr>
              <a:t>산업 표준 · 본 검사 보고서의 근거 자료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INDUSTRY STANDARDS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USDA Hazelnut Grading Standard (1,000~3,000g 샘플)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Codex Alimentarius CXS 226 — 견과류 식품 표준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EU Regulation 2023/915 — 아플라톡신 최대 한계치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ISO 22000 — 식품 안전 관리 시스템</a:t>
            </a:r>
          </a:p>
          <a:p>
            <a:pPr algn="l"/>
            <a:r>
              <a:rPr sz="1000" b="0">
                <a:solidFill>
                  <a:srgbClr val="CADCFC"/>
                </a:solidFill>
                <a:latin typeface="Calibri"/>
              </a:rPr>
              <a:t>·  FDA 21 CFR 110 — 식품 공장 GMP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377440"/>
            <a:ext cx="5303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Calibri"/>
              </a:rPr>
              <a:t>WEB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43200"/>
            <a:ext cx="53035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[01]  https://ucfoodsafety.ucdavis.edu/sites/g/files/dgvnsk7366/files/inl...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[02]  https://www.ncbi.nlm.nih.gov/pmc/articles/PMC9175146/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[03]  https://www.ncbi.nlm.nih.gov/pmc/articles/PMC9014268/</a:t>
            </a:r>
          </a:p>
          <a:p>
            <a:pPr algn="l"/>
            <a:r>
              <a:rPr sz="900" b="0">
                <a:solidFill>
                  <a:srgbClr val="CADCFC"/>
                </a:solidFill>
                <a:latin typeface="Calibri"/>
              </a:rPr>
              <a:t>[04]  https://wcngg.com/2025/05/09/what-your-grade-sheet-may-not-be-telli...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