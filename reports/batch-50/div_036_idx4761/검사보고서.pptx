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1069848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1">
                <a:solidFill>
                  <a:srgbClr val="CADCFC"/>
                </a:solidFill>
                <a:latin typeface="Calibri"/>
              </a:rPr>
              <a:t>QUALITY INSPECTION REPORT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468880"/>
            <a:ext cx="10698480" cy="22860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Calibri"/>
              </a:rPr>
              <a:t>메탈 메쉬 / Grid 검사 결과 보고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1069848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800" b="0">
                <a:solidFill>
                  <a:srgbClr val="CADCFC"/>
                </a:solidFill>
                <a:latin typeface="Calibri"/>
              </a:rPr>
              <a:t>메탈 메쉬 / Grid 표본 — 외관 검사상 특이 결함 없음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035040"/>
            <a:ext cx="1069848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0">
                <a:solidFill>
                  <a:srgbClr val="CADCFC"/>
                </a:solidFill>
                <a:latin typeface="Calibri"/>
              </a:rPr>
              <a:t>Inspection Date  2026.05.21   ·   AI Vision Inspection Agent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1">
                <a:solidFill>
                  <a:srgbClr val="1E2761"/>
                </a:solidFill>
                <a:latin typeface="Calibri"/>
              </a:rPr>
              <a:t>01  ·  INSPECTION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68680"/>
            <a:ext cx="1097280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800" b="1">
                <a:solidFill>
                  <a:srgbClr val="1A1A2E"/>
                </a:solidFill>
                <a:latin typeface="Calibri"/>
              </a:rPr>
              <a:t>검사 요약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83080"/>
            <a:ext cx="32004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1">
                <a:solidFill>
                  <a:srgbClr val="666680"/>
                </a:solidFill>
                <a:latin typeface="Calibri"/>
              </a:rPr>
              <a:t>OVERALL SEVERITY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103120"/>
            <a:ext cx="3200400" cy="8229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4400" b="1">
                <a:solidFill>
                  <a:srgbClr val="4E7A52"/>
                </a:solidFill>
                <a:latin typeface="Calibri"/>
              </a:rPr>
              <a:t>NONE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200400"/>
            <a:ext cx="32004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1">
                <a:solidFill>
                  <a:srgbClr val="666680"/>
                </a:solidFill>
                <a:latin typeface="Calibri"/>
              </a:rPr>
              <a:t>DEFECTS DETECTED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520440"/>
            <a:ext cx="3200400" cy="8229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4400" b="1">
                <a:solidFill>
                  <a:srgbClr val="1E2761"/>
                </a:solidFill>
                <a:latin typeface="Calibri"/>
              </a:rPr>
              <a:t>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617720"/>
            <a:ext cx="32004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1">
                <a:solidFill>
                  <a:srgbClr val="666680"/>
                </a:solidFill>
                <a:latin typeface="Calibri"/>
              </a:rPr>
              <a:t>CONFIDENCE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937760"/>
            <a:ext cx="3200400" cy="8229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4400" b="1">
                <a:solidFill>
                  <a:srgbClr val="1E2761"/>
                </a:solidFill>
                <a:latin typeface="Calibri"/>
              </a:rPr>
              <a:t>85%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1828800"/>
            <a:ext cx="7132320" cy="45720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4572000" y="6446520"/>
            <a:ext cx="713232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0">
                <a:solidFill>
                  <a:srgbClr val="666680"/>
                </a:solidFill>
                <a:latin typeface="Calibri"/>
              </a:rPr>
              <a:t>▲ 검사 이미지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1">
                <a:solidFill>
                  <a:srgbClr val="1E2761"/>
                </a:solidFill>
                <a:latin typeface="Calibri"/>
              </a:rPr>
              <a:t>02  ·  DEFECT DETAILS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68680"/>
            <a:ext cx="1097280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800" b="1">
                <a:solidFill>
                  <a:srgbClr val="1A1A2E"/>
                </a:solidFill>
                <a:latin typeface="Calibri"/>
              </a:rPr>
              <a:t>결함 상세 분석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200400"/>
            <a:ext cx="10972800" cy="914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2400" b="1">
                <a:solidFill>
                  <a:srgbClr val="4E7A52"/>
                </a:solidFill>
                <a:latin typeface="Calibri"/>
              </a:rPr>
              <a:t>특이 결함이 검출되지 않았습니다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1">
                <a:solidFill>
                  <a:srgbClr val="1E2761"/>
                </a:solidFill>
                <a:latin typeface="Calibri"/>
              </a:rPr>
              <a:t>03  ·  ROOT CAUSE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68680"/>
            <a:ext cx="1097280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800" b="1">
                <a:solidFill>
                  <a:srgbClr val="1A1A2E"/>
                </a:solidFill>
                <a:latin typeface="Calibri"/>
              </a:rPr>
              <a:t>근본 원인 분석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9728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0">
                <a:solidFill>
                  <a:srgbClr val="666680"/>
                </a:solidFill>
                <a:latin typeface="Calibri"/>
              </a:rPr>
              <a:t>웹 검색을 통해 자동 수집된 산업 표준 기반 분석</a:t>
            </a:r>
          </a:p>
        </p:txBody>
      </p:sp>
      <p:sp>
        <p:nvSpPr>
          <p:cNvPr id="6" name="Oval 5"/>
          <p:cNvSpPr/>
          <p:nvPr/>
        </p:nvSpPr>
        <p:spPr>
          <a:xfrm>
            <a:off x="640080" y="2194560"/>
            <a:ext cx="457200" cy="45720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2176272"/>
            <a:ext cx="4572000" cy="411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500" b="1">
                <a:solidFill>
                  <a:srgbClr val="1E2761"/>
                </a:solidFill>
                <a:latin typeface="Calibri"/>
              </a:rPr>
              <a:t>공정 요인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2651760"/>
            <a:ext cx="4572000" cy="1554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  <a:latin typeface="Calibri"/>
              </a:rPr>
              <a:t>직조(weaving) 공정의 텐션 불균일로 mesh 간격 산포. expanded metal 가공의 펀치 압력 변동으로 형상 불균일.</a:t>
            </a:r>
          </a:p>
        </p:txBody>
      </p:sp>
      <p:sp>
        <p:nvSpPr>
          <p:cNvPr id="9" name="Oval 8"/>
          <p:cNvSpPr/>
          <p:nvPr/>
        </p:nvSpPr>
        <p:spPr>
          <a:xfrm>
            <a:off x="6217920" y="2194560"/>
            <a:ext cx="457200" cy="45720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0" y="2176272"/>
            <a:ext cx="4572000" cy="411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500" b="1">
                <a:solidFill>
                  <a:srgbClr val="1E2761"/>
                </a:solidFill>
                <a:latin typeface="Calibri"/>
              </a:rPr>
              <a:t>설비 요인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0" y="2651760"/>
            <a:ext cx="4572000" cy="1554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  <a:latin typeface="Calibri"/>
              </a:rPr>
              <a:t>직조기 셔틀 마모로 broken wire(끊긴 와이어), nested weft. 펀치 다이 마모로 모서리 burr.</a:t>
            </a:r>
          </a:p>
        </p:txBody>
      </p:sp>
      <p:sp>
        <p:nvSpPr>
          <p:cNvPr id="12" name="Oval 11"/>
          <p:cNvSpPr/>
          <p:nvPr/>
        </p:nvSpPr>
        <p:spPr>
          <a:xfrm>
            <a:off x="640080" y="4297679"/>
            <a:ext cx="457200" cy="45720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0160" y="4279391"/>
            <a:ext cx="4572000" cy="411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500" b="1">
                <a:solidFill>
                  <a:srgbClr val="1E2761"/>
                </a:solidFill>
                <a:latin typeface="Calibri"/>
              </a:rPr>
              <a:t>재료 요인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4754879"/>
            <a:ext cx="4572000" cy="1554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  <a:latin typeface="Calibri"/>
              </a:rPr>
              <a:t>원선재(wire)의 인장강도·직경 산포로 weaving 중 절단. 표면 산화로 도금 부착성 ↓.</a:t>
            </a:r>
          </a:p>
        </p:txBody>
      </p:sp>
      <p:sp>
        <p:nvSpPr>
          <p:cNvPr id="15" name="Oval 14"/>
          <p:cNvSpPr/>
          <p:nvPr/>
        </p:nvSpPr>
        <p:spPr>
          <a:xfrm>
            <a:off x="6217920" y="4297679"/>
            <a:ext cx="457200" cy="45720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0" y="4279391"/>
            <a:ext cx="4572000" cy="411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500" b="1">
                <a:solidFill>
                  <a:srgbClr val="1E2761"/>
                </a:solidFill>
                <a:latin typeface="Calibri"/>
              </a:rPr>
              <a:t>환경 요인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0" y="4754879"/>
            <a:ext cx="4572000" cy="1554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  <a:latin typeface="Calibri"/>
              </a:rPr>
              <a:t>고온·고습으로 도금층 산화. 운반·취급 시 외력으로 형상 변형.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1">
                <a:solidFill>
                  <a:srgbClr val="1E2761"/>
                </a:solidFill>
                <a:latin typeface="Calibri"/>
              </a:rPr>
              <a:t>04  ·  RECOMMENDATIONS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68680"/>
            <a:ext cx="1097280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800" b="1">
                <a:solidFill>
                  <a:srgbClr val="1A1A2E"/>
                </a:solidFill>
                <a:latin typeface="Calibri"/>
              </a:rPr>
              <a:t>권고 조치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822960" cy="8229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3200" b="1">
                <a:solidFill>
                  <a:srgbClr val="CADCFC"/>
                </a:solidFill>
                <a:latin typeface="Calibri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54480" y="1874520"/>
            <a:ext cx="10058400" cy="8229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00" b="0">
                <a:solidFill>
                  <a:srgbClr val="1A1A2E"/>
                </a:solidFill>
                <a:latin typeface="Calibri"/>
              </a:rPr>
              <a:t>동일 로트 정상 표본 데이터베이스에 추가 (학습용)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651760"/>
            <a:ext cx="822960" cy="8229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3200" b="1">
                <a:solidFill>
                  <a:srgbClr val="CADCFC"/>
                </a:solidFill>
                <a:latin typeface="Calibri"/>
              </a:rP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54480" y="2788920"/>
            <a:ext cx="10058400" cy="8229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00" b="0">
                <a:solidFill>
                  <a:srgbClr val="1A1A2E"/>
                </a:solidFill>
                <a:latin typeface="Calibri"/>
              </a:rPr>
              <a:t>주기적 SPC 모니터링 유지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566160"/>
            <a:ext cx="822960" cy="8229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3200" b="1">
                <a:solidFill>
                  <a:srgbClr val="CADCFC"/>
                </a:solidFill>
                <a:latin typeface="Calibri"/>
              </a:rPr>
              <a:t>03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4480" y="3703320"/>
            <a:ext cx="10058400" cy="8229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00" b="0">
                <a:solidFill>
                  <a:srgbClr val="1A1A2E"/>
                </a:solidFill>
                <a:latin typeface="Calibri"/>
              </a:rPr>
              <a:t>외관 외 기능 시험(필요 시) 병행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480560"/>
            <a:ext cx="822960" cy="8229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3200" b="1">
                <a:solidFill>
                  <a:srgbClr val="CADCFC"/>
                </a:solidFill>
                <a:latin typeface="Calibri"/>
              </a:rPr>
              <a:t>04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80" y="4617720"/>
            <a:ext cx="10058400" cy="8229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00" b="0">
                <a:solidFill>
                  <a:srgbClr val="1A1A2E"/>
                </a:solidFill>
                <a:latin typeface="Calibri"/>
              </a:rPr>
              <a:t>Accupore 같은 mesh 분석 시스템 도입 (large/small opening, broken wire 자동 검출)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5394960"/>
            <a:ext cx="822960" cy="8229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3200" b="1">
                <a:solidFill>
                  <a:srgbClr val="CADCFC"/>
                </a:solidFill>
                <a:latin typeface="Calibri"/>
              </a:rPr>
              <a:t>05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54480" y="5532120"/>
            <a:ext cx="10058400" cy="8229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00" b="0">
                <a:solidFill>
                  <a:srgbClr val="1A1A2E"/>
                </a:solidFill>
                <a:latin typeface="Calibri"/>
              </a:rPr>
              <a:t>직조기 텐션 센서 + 자동 알람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1">
                <a:solidFill>
                  <a:srgbClr val="CADCFC"/>
                </a:solidFill>
                <a:latin typeface="Calibri"/>
              </a:rPr>
              <a:t>05  ·  REFERENCES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68680"/>
            <a:ext cx="1097280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참고 자료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691640"/>
            <a:ext cx="109728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200" b="0">
                <a:solidFill>
                  <a:srgbClr val="CADCFC"/>
                </a:solidFill>
                <a:latin typeface="Calibri"/>
              </a:rPr>
              <a:t>산업 표준 · 본 검사 보고서의 근거 자료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377440"/>
            <a:ext cx="530352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1">
                <a:solidFill>
                  <a:srgbClr val="CADCFC"/>
                </a:solidFill>
                <a:latin typeface="Calibri"/>
              </a:rPr>
              <a:t>INDUSTRY STANDARDS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743200"/>
            <a:ext cx="5303520" cy="3200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0">
                <a:solidFill>
                  <a:srgbClr val="CADCFC"/>
                </a:solidFill>
                <a:latin typeface="Calibri"/>
              </a:rPr>
              <a:t>·  GB/T 5330-2003 — 산업용 와이어 직조 메쉬 일반 사양</a:t>
            </a:r>
          </a:p>
          <a:p>
            <a:pPr algn="l"/>
            <a:r>
              <a:rPr sz="1000" b="0">
                <a:solidFill>
                  <a:srgbClr val="CADCFC"/>
                </a:solidFill>
                <a:latin typeface="Calibri"/>
              </a:rPr>
              <a:t>·  ASTM E2016 — 스테인리스 와이어 메쉬 기술 요구</a:t>
            </a:r>
          </a:p>
          <a:p>
            <a:pPr algn="l"/>
            <a:r>
              <a:rPr sz="1000" b="0">
                <a:solidFill>
                  <a:srgbClr val="CADCFC"/>
                </a:solidFill>
                <a:latin typeface="Calibri"/>
              </a:rPr>
              <a:t>·  ASME B30.9 — 메탈 메쉬 슬링 검사 (단 1개 끊긴 와이어도 폐기)</a:t>
            </a:r>
          </a:p>
          <a:p>
            <a:pPr algn="l"/>
            <a:r>
              <a:rPr sz="1000" b="0">
                <a:solidFill>
                  <a:srgbClr val="CADCFC"/>
                </a:solidFill>
                <a:latin typeface="Calibri"/>
              </a:rPr>
              <a:t>·  ISO 4783 — 와이어 직경 측정 표준</a:t>
            </a:r>
          </a:p>
          <a:p>
            <a:pPr algn="l"/>
            <a:r>
              <a:rPr sz="1000" b="0">
                <a:solidFill>
                  <a:srgbClr val="CADCFC"/>
                </a:solidFill>
                <a:latin typeface="Calibri"/>
              </a:rPr>
              <a:t>·  ISO 9001 — 품질 경영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09360" y="2377440"/>
            <a:ext cx="530352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1">
                <a:solidFill>
                  <a:srgbClr val="CADCFC"/>
                </a:solidFill>
                <a:latin typeface="Calibri"/>
              </a:rPr>
              <a:t>WEB SOURCES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9360" y="2743200"/>
            <a:ext cx="5303520" cy="3200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900" b="0">
                <a:solidFill>
                  <a:srgbClr val="CADCFC"/>
                </a:solidFill>
                <a:latin typeface="Calibri"/>
              </a:rPr>
              <a:t>[01]  https://www.wiremesh-chinafree.com/news/639.html</a:t>
            </a:r>
          </a:p>
          <a:p>
            <a:pPr algn="l"/>
            <a:r>
              <a:rPr sz="900" b="0">
                <a:solidFill>
                  <a:srgbClr val="CADCFC"/>
                </a:solidFill>
                <a:latin typeface="Calibri"/>
              </a:rPr>
              <a:t>[02]  https://www.meshfromchina.com/how-to-inspect-stainless-steel-wire-m...</a:t>
            </a:r>
          </a:p>
          <a:p>
            <a:pPr algn="l"/>
            <a:r>
              <a:rPr sz="900" b="0">
                <a:solidFill>
                  <a:srgbClr val="CADCFC"/>
                </a:solidFill>
                <a:latin typeface="Calibri"/>
              </a:rPr>
              <a:t>[03]  https://dwt-inc.com/accupore-mesh-analysis-inspection-services/</a:t>
            </a:r>
          </a:p>
          <a:p>
            <a:pPr algn="l"/>
            <a:r>
              <a:rPr sz="900" b="0">
                <a:solidFill>
                  <a:srgbClr val="CADCFC"/>
                </a:solidFill>
                <a:latin typeface="Calibri"/>
              </a:rPr>
              <a:t>[04]  https://www.mazzellacompanies.com/learning-center/how-to-inspect-me...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